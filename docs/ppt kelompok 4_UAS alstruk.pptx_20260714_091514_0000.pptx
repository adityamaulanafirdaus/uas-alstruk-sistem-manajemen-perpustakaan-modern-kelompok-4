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Montserrat Bold" charset="1" panose="00000800000000000000"/>
      <p:regular r:id="rId14"/>
    </p:embeddedFont>
    <p:embeddedFont>
      <p:font typeface="Amsterdam Four" charset="1" panose="02000500000000000000"/>
      <p:regular r:id="rId15"/>
    </p:embeddedFont>
    <p:embeddedFont>
      <p:font typeface="Montserrat" charset="1" panose="00000500000000000000"/>
      <p:regular r:id="rId16"/>
    </p:embeddedFont>
    <p:embeddedFont>
      <p:font typeface="Anonymous Pro" charset="1" panose="02060609030202000504"/>
      <p:regular r:id="rId17"/>
    </p:embeddedFont>
    <p:embeddedFont>
      <p:font typeface="Lovelo" charset="1" panose="02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6942222" y="1074087"/>
            <a:ext cx="317078" cy="149895"/>
          </a:xfrm>
          <a:custGeom>
            <a:avLst/>
            <a:gdLst/>
            <a:ahLst/>
            <a:cxnLst/>
            <a:rect r="r" b="b" t="t" l="l"/>
            <a:pathLst>
              <a:path h="149895" w="317078">
                <a:moveTo>
                  <a:pt x="0" y="0"/>
                </a:moveTo>
                <a:lnTo>
                  <a:pt x="317078" y="0"/>
                </a:lnTo>
                <a:lnTo>
                  <a:pt x="317078" y="149895"/>
                </a:lnTo>
                <a:lnTo>
                  <a:pt x="0" y="149895"/>
                </a:lnTo>
                <a:lnTo>
                  <a:pt x="0" y="0"/>
                </a:lnTo>
                <a:close/>
              </a:path>
            </a:pathLst>
          </a:custGeom>
          <a:blipFill>
            <a:blip r:embed="rId2">
              <a:extLst>
                <a:ext uri="{96DAC541-7B7A-43D3-8B79-37D633B846F1}">
                  <asvg:svgBlip xmlns:asvg="http://schemas.microsoft.com/office/drawing/2016/SVG/main" r:embed="rId3"/>
                </a:ext>
              </a:extLst>
            </a:blip>
            <a:stretch>
              <a:fillRect l="-228" t="0" r="-225" b="0"/>
            </a:stretch>
          </a:blipFill>
        </p:spPr>
      </p:sp>
      <p:sp>
        <p:nvSpPr>
          <p:cNvPr name="TextBox 3" id="3"/>
          <p:cNvSpPr txBox="true"/>
          <p:nvPr/>
        </p:nvSpPr>
        <p:spPr>
          <a:xfrm rot="0">
            <a:off x="1441904" y="5138442"/>
            <a:ext cx="13034934" cy="1419806"/>
          </a:xfrm>
          <a:prstGeom prst="rect">
            <a:avLst/>
          </a:prstGeom>
        </p:spPr>
        <p:txBody>
          <a:bodyPr anchor="t" rtlCol="false" tIns="0" lIns="0" bIns="0" rIns="0">
            <a:spAutoFit/>
          </a:bodyPr>
          <a:lstStyle/>
          <a:p>
            <a:pPr algn="ctr">
              <a:lnSpc>
                <a:spcPts val="14856"/>
              </a:lnSpc>
            </a:pPr>
            <a:r>
              <a:rPr lang="en-US" b="true" sz="18571" spc="-1857">
                <a:solidFill>
                  <a:srgbClr val="1E1E1E"/>
                </a:solidFill>
                <a:latin typeface="Montserrat Bold"/>
                <a:ea typeface="Montserrat Bold"/>
                <a:cs typeface="Montserrat Bold"/>
                <a:sym typeface="Montserrat Bold"/>
              </a:rPr>
              <a:t>KELOMPOK</a:t>
            </a:r>
          </a:p>
        </p:txBody>
      </p:sp>
      <p:sp>
        <p:nvSpPr>
          <p:cNvPr name="TextBox 4" id="4"/>
          <p:cNvSpPr txBox="true"/>
          <p:nvPr/>
        </p:nvSpPr>
        <p:spPr>
          <a:xfrm rot="-263820">
            <a:off x="9157671" y="4330461"/>
            <a:ext cx="12243787" cy="1360170"/>
          </a:xfrm>
          <a:prstGeom prst="rect">
            <a:avLst/>
          </a:prstGeom>
        </p:spPr>
        <p:txBody>
          <a:bodyPr anchor="t" rtlCol="false" tIns="0" lIns="0" bIns="0" rIns="0">
            <a:spAutoFit/>
          </a:bodyPr>
          <a:lstStyle/>
          <a:p>
            <a:pPr algn="ctr">
              <a:lnSpc>
                <a:spcPts val="10080"/>
              </a:lnSpc>
            </a:pPr>
            <a:r>
              <a:rPr lang="en-US" sz="7200" spc="-144">
                <a:solidFill>
                  <a:srgbClr val="FF3131"/>
                </a:solidFill>
                <a:latin typeface="Amsterdam Four"/>
                <a:ea typeface="Amsterdam Four"/>
                <a:cs typeface="Amsterdam Four"/>
                <a:sym typeface="Amsterdam Four"/>
              </a:rPr>
              <a:t>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TextBox 2" id="2"/>
          <p:cNvSpPr txBox="true"/>
          <p:nvPr/>
        </p:nvSpPr>
        <p:spPr>
          <a:xfrm rot="0">
            <a:off x="386848" y="1360361"/>
            <a:ext cx="6361843" cy="442798"/>
          </a:xfrm>
          <a:prstGeom prst="rect">
            <a:avLst/>
          </a:prstGeom>
        </p:spPr>
        <p:txBody>
          <a:bodyPr anchor="t" rtlCol="false" tIns="0" lIns="0" bIns="0" rIns="0">
            <a:spAutoFit/>
          </a:bodyPr>
          <a:lstStyle/>
          <a:p>
            <a:pPr algn="l">
              <a:lnSpc>
                <a:spcPts val="4434"/>
              </a:lnSpc>
            </a:pPr>
            <a:r>
              <a:rPr lang="en-US" b="true" sz="5543" spc="-553">
                <a:solidFill>
                  <a:srgbClr val="1E1E1E"/>
                </a:solidFill>
                <a:latin typeface="Montserrat Bold"/>
                <a:ea typeface="Montserrat Bold"/>
                <a:cs typeface="Montserrat Bold"/>
                <a:sym typeface="Montserrat Bold"/>
              </a:rPr>
              <a:t>PEMBAGIAN TUGAS</a:t>
            </a:r>
          </a:p>
        </p:txBody>
      </p:sp>
      <p:sp>
        <p:nvSpPr>
          <p:cNvPr name="Freeform 3" id="3"/>
          <p:cNvSpPr/>
          <p:nvPr/>
        </p:nvSpPr>
        <p:spPr>
          <a:xfrm flipH="false" flipV="false" rot="0">
            <a:off x="16942222" y="1074087"/>
            <a:ext cx="317078" cy="149895"/>
          </a:xfrm>
          <a:custGeom>
            <a:avLst/>
            <a:gdLst/>
            <a:ahLst/>
            <a:cxnLst/>
            <a:rect r="r" b="b" t="t" l="l"/>
            <a:pathLst>
              <a:path h="149895" w="317078">
                <a:moveTo>
                  <a:pt x="0" y="0"/>
                </a:moveTo>
                <a:lnTo>
                  <a:pt x="317078" y="0"/>
                </a:lnTo>
                <a:lnTo>
                  <a:pt x="317078" y="149895"/>
                </a:lnTo>
                <a:lnTo>
                  <a:pt x="0" y="149895"/>
                </a:lnTo>
                <a:lnTo>
                  <a:pt x="0" y="0"/>
                </a:lnTo>
                <a:close/>
              </a:path>
            </a:pathLst>
          </a:custGeom>
          <a:blipFill>
            <a:blip r:embed="rId2">
              <a:extLst>
                <a:ext uri="{96DAC541-7B7A-43D3-8B79-37D633B846F1}">
                  <asvg:svgBlip xmlns:asvg="http://schemas.microsoft.com/office/drawing/2016/SVG/main" r:embed="rId3"/>
                </a:ext>
              </a:extLst>
            </a:blip>
            <a:stretch>
              <a:fillRect l="-228" t="0" r="-225" b="0"/>
            </a:stretch>
          </a:blipFill>
        </p:spPr>
      </p:sp>
      <p:sp>
        <p:nvSpPr>
          <p:cNvPr name="TextBox 4" id="4"/>
          <p:cNvSpPr txBox="true"/>
          <p:nvPr/>
        </p:nvSpPr>
        <p:spPr>
          <a:xfrm rot="0">
            <a:off x="386848" y="3230115"/>
            <a:ext cx="13298771" cy="807314"/>
          </a:xfrm>
          <a:prstGeom prst="rect">
            <a:avLst/>
          </a:prstGeom>
        </p:spPr>
        <p:txBody>
          <a:bodyPr anchor="t" rtlCol="false" tIns="0" lIns="0" bIns="0" rIns="0">
            <a:spAutoFit/>
          </a:bodyPr>
          <a:lstStyle/>
          <a:p>
            <a:pPr algn="l">
              <a:lnSpc>
                <a:spcPts val="3354"/>
              </a:lnSpc>
            </a:pPr>
            <a:r>
              <a:rPr lang="en-US" sz="4194" spc="-218">
                <a:solidFill>
                  <a:srgbClr val="1E1E1E"/>
                </a:solidFill>
                <a:latin typeface="Montserrat"/>
                <a:ea typeface="Montserrat"/>
                <a:cs typeface="Montserrat"/>
                <a:sym typeface="Montserrat"/>
              </a:rPr>
              <a:t>Aditya Maulana Firdaus — Lead Developer &amp;  integrator</a:t>
            </a:r>
          </a:p>
          <a:p>
            <a:pPr algn="l">
              <a:lnSpc>
                <a:spcPts val="2097"/>
              </a:lnSpc>
            </a:pPr>
          </a:p>
        </p:txBody>
      </p:sp>
      <p:sp>
        <p:nvSpPr>
          <p:cNvPr name="TextBox 5" id="5"/>
          <p:cNvSpPr txBox="true"/>
          <p:nvPr/>
        </p:nvSpPr>
        <p:spPr>
          <a:xfrm rot="0">
            <a:off x="386848" y="4504153"/>
            <a:ext cx="18288000" cy="910895"/>
          </a:xfrm>
          <a:prstGeom prst="rect">
            <a:avLst/>
          </a:prstGeom>
        </p:spPr>
        <p:txBody>
          <a:bodyPr anchor="t" rtlCol="false" tIns="0" lIns="0" bIns="0" rIns="0">
            <a:spAutoFit/>
          </a:bodyPr>
          <a:lstStyle/>
          <a:p>
            <a:pPr algn="l">
              <a:lnSpc>
                <a:spcPts val="4019"/>
              </a:lnSpc>
            </a:pPr>
            <a:r>
              <a:rPr lang="en-US" sz="3902" spc="-269">
                <a:solidFill>
                  <a:srgbClr val="1E1E1E"/>
                </a:solidFill>
                <a:latin typeface="Montserrat"/>
                <a:ea typeface="Montserrat"/>
                <a:cs typeface="Montserrat"/>
                <a:sym typeface="Montserrat"/>
              </a:rPr>
              <a:t>Nazwa Allia Kusmana — Book Database Module</a:t>
            </a:r>
          </a:p>
          <a:p>
            <a:pPr algn="l">
              <a:lnSpc>
                <a:spcPts val="1951"/>
              </a:lnSpc>
            </a:pPr>
          </a:p>
        </p:txBody>
      </p:sp>
      <p:sp>
        <p:nvSpPr>
          <p:cNvPr name="TextBox 6" id="6"/>
          <p:cNvSpPr txBox="true"/>
          <p:nvPr/>
        </p:nvSpPr>
        <p:spPr>
          <a:xfrm rot="0">
            <a:off x="386848" y="5891298"/>
            <a:ext cx="10236200" cy="916419"/>
          </a:xfrm>
          <a:prstGeom prst="rect">
            <a:avLst/>
          </a:prstGeom>
        </p:spPr>
        <p:txBody>
          <a:bodyPr anchor="t" rtlCol="false" tIns="0" lIns="0" bIns="0" rIns="0">
            <a:spAutoFit/>
          </a:bodyPr>
          <a:lstStyle/>
          <a:p>
            <a:pPr algn="l">
              <a:lnSpc>
                <a:spcPts val="4122"/>
              </a:lnSpc>
            </a:pPr>
            <a:r>
              <a:rPr lang="en-US" sz="4001" spc="-207">
                <a:solidFill>
                  <a:srgbClr val="1E1E1E"/>
                </a:solidFill>
                <a:latin typeface="Montserrat"/>
                <a:ea typeface="Montserrat"/>
                <a:cs typeface="Montserrat"/>
                <a:sym typeface="Montserrat"/>
              </a:rPr>
              <a:t>Sri Agnia — Collection Management Module</a:t>
            </a:r>
          </a:p>
          <a:p>
            <a:pPr algn="l">
              <a:lnSpc>
                <a:spcPts val="2000"/>
              </a:lnSpc>
            </a:pPr>
          </a:p>
        </p:txBody>
      </p:sp>
      <p:sp>
        <p:nvSpPr>
          <p:cNvPr name="TextBox 7" id="7"/>
          <p:cNvSpPr txBox="true"/>
          <p:nvPr/>
        </p:nvSpPr>
        <p:spPr>
          <a:xfrm rot="0">
            <a:off x="386848" y="7288559"/>
            <a:ext cx="10929825" cy="544263"/>
          </a:xfrm>
          <a:prstGeom prst="rect">
            <a:avLst/>
          </a:prstGeom>
        </p:spPr>
        <p:txBody>
          <a:bodyPr anchor="t" rtlCol="false" tIns="0" lIns="0" bIns="0" rIns="0">
            <a:spAutoFit/>
          </a:bodyPr>
          <a:lstStyle/>
          <a:p>
            <a:pPr algn="l">
              <a:lnSpc>
                <a:spcPts val="4125"/>
              </a:lnSpc>
            </a:pPr>
            <a:r>
              <a:rPr lang="en-US" sz="4009" spc="-207">
                <a:solidFill>
                  <a:srgbClr val="1E1E1E"/>
                </a:solidFill>
                <a:latin typeface="Montserrat"/>
                <a:ea typeface="Montserrat"/>
                <a:cs typeface="Montserrat"/>
                <a:sym typeface="Montserrat"/>
              </a:rPr>
              <a:t>Devina Putri Nur Aliah —Queue Service Module</a:t>
            </a:r>
          </a:p>
        </p:txBody>
      </p:sp>
      <p:sp>
        <p:nvSpPr>
          <p:cNvPr name="TextBox 8" id="8"/>
          <p:cNvSpPr txBox="true"/>
          <p:nvPr/>
        </p:nvSpPr>
        <p:spPr>
          <a:xfrm rot="0">
            <a:off x="386848" y="8696306"/>
            <a:ext cx="11986420" cy="926344"/>
          </a:xfrm>
          <a:prstGeom prst="rect">
            <a:avLst/>
          </a:prstGeom>
        </p:spPr>
        <p:txBody>
          <a:bodyPr anchor="t" rtlCol="false" tIns="0" lIns="0" bIns="0" rIns="0">
            <a:spAutoFit/>
          </a:bodyPr>
          <a:lstStyle/>
          <a:p>
            <a:pPr algn="l">
              <a:lnSpc>
                <a:spcPts val="4129"/>
              </a:lnSpc>
            </a:pPr>
            <a:r>
              <a:rPr lang="en-US" sz="4009" spc="-207">
                <a:solidFill>
                  <a:srgbClr val="1E1E1E"/>
                </a:solidFill>
                <a:latin typeface="Montserrat"/>
                <a:ea typeface="Montserrat"/>
                <a:cs typeface="Montserrat"/>
                <a:sym typeface="Montserrat"/>
              </a:rPr>
              <a:t>Rezki Ahmad Fauzi] — Transaction &amp; Report Module</a:t>
            </a:r>
          </a:p>
          <a:p>
            <a:pPr algn="l">
              <a:lnSpc>
                <a:spcPts val="2004"/>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6942222" y="1074087"/>
            <a:ext cx="317078" cy="149895"/>
          </a:xfrm>
          <a:custGeom>
            <a:avLst/>
            <a:gdLst/>
            <a:ahLst/>
            <a:cxnLst/>
            <a:rect r="r" b="b" t="t" l="l"/>
            <a:pathLst>
              <a:path h="149895" w="317078">
                <a:moveTo>
                  <a:pt x="0" y="0"/>
                </a:moveTo>
                <a:lnTo>
                  <a:pt x="317078" y="0"/>
                </a:lnTo>
                <a:lnTo>
                  <a:pt x="317078" y="149895"/>
                </a:lnTo>
                <a:lnTo>
                  <a:pt x="0" y="149895"/>
                </a:lnTo>
                <a:lnTo>
                  <a:pt x="0" y="0"/>
                </a:lnTo>
                <a:close/>
              </a:path>
            </a:pathLst>
          </a:custGeom>
          <a:blipFill>
            <a:blip r:embed="rId2">
              <a:extLst>
                <a:ext uri="{96DAC541-7B7A-43D3-8B79-37D633B846F1}">
                  <asvg:svgBlip xmlns:asvg="http://schemas.microsoft.com/office/drawing/2016/SVG/main" r:embed="rId3"/>
                </a:ext>
              </a:extLst>
            </a:blip>
            <a:stretch>
              <a:fillRect l="-228" t="0" r="-225" b="0"/>
            </a:stretch>
          </a:blipFill>
        </p:spPr>
      </p:sp>
      <p:sp>
        <p:nvSpPr>
          <p:cNvPr name="Freeform 3" id="3"/>
          <p:cNvSpPr/>
          <p:nvPr/>
        </p:nvSpPr>
        <p:spPr>
          <a:xfrm flipH="false" flipV="false" rot="502440">
            <a:off x="-152686" y="8387029"/>
            <a:ext cx="2362762" cy="1742542"/>
          </a:xfrm>
          <a:custGeom>
            <a:avLst/>
            <a:gdLst/>
            <a:ahLst/>
            <a:cxnLst/>
            <a:rect r="r" b="b" t="t" l="l"/>
            <a:pathLst>
              <a:path h="1742542" w="2362762">
                <a:moveTo>
                  <a:pt x="0" y="0"/>
                </a:moveTo>
                <a:lnTo>
                  <a:pt x="2362762" y="0"/>
                </a:lnTo>
                <a:lnTo>
                  <a:pt x="2362762" y="1742542"/>
                </a:lnTo>
                <a:lnTo>
                  <a:pt x="0" y="1742542"/>
                </a:lnTo>
                <a:lnTo>
                  <a:pt x="0" y="0"/>
                </a:lnTo>
                <a:close/>
              </a:path>
            </a:pathLst>
          </a:custGeom>
          <a:blipFill>
            <a:blip r:embed="rId4">
              <a:extLst>
                <a:ext uri="{96DAC541-7B7A-43D3-8B79-37D633B846F1}">
                  <asvg:svgBlip xmlns:asvg="http://schemas.microsoft.com/office/drawing/2016/SVG/main" r:embed="rId5"/>
                </a:ext>
              </a:extLst>
            </a:blip>
            <a:stretch>
              <a:fillRect l="-174" t="0" r="-174" b="0"/>
            </a:stretch>
          </a:blipFill>
        </p:spPr>
      </p:sp>
      <p:grpSp>
        <p:nvGrpSpPr>
          <p:cNvPr name="Group 4" id="4"/>
          <p:cNvGrpSpPr/>
          <p:nvPr/>
        </p:nvGrpSpPr>
        <p:grpSpPr>
          <a:xfrm rot="0">
            <a:off x="14431728" y="5143500"/>
            <a:ext cx="5020989" cy="5625751"/>
            <a:chOff x="0" y="0"/>
            <a:chExt cx="6694653" cy="7501001"/>
          </a:xfrm>
        </p:grpSpPr>
        <p:sp>
          <p:nvSpPr>
            <p:cNvPr name="Freeform 5" id="5"/>
            <p:cNvSpPr/>
            <p:nvPr/>
          </p:nvSpPr>
          <p:spPr>
            <a:xfrm flipH="false" flipV="false" rot="0">
              <a:off x="0" y="0"/>
              <a:ext cx="6694678" cy="7501001"/>
            </a:xfrm>
            <a:custGeom>
              <a:avLst/>
              <a:gdLst/>
              <a:ahLst/>
              <a:cxnLst/>
              <a:rect r="r" b="b" t="t" l="l"/>
              <a:pathLst>
                <a:path h="7501001" w="6694678">
                  <a:moveTo>
                    <a:pt x="0" y="0"/>
                  </a:moveTo>
                  <a:lnTo>
                    <a:pt x="6694678" y="0"/>
                  </a:lnTo>
                  <a:lnTo>
                    <a:pt x="6694678" y="7501001"/>
                  </a:lnTo>
                  <a:lnTo>
                    <a:pt x="0" y="7501001"/>
                  </a:lnTo>
                  <a:lnTo>
                    <a:pt x="0" y="0"/>
                  </a:lnTo>
                  <a:close/>
                </a:path>
              </a:pathLst>
            </a:custGeom>
            <a:blipFill>
              <a:blip r:embed="rId6"/>
              <a:stretch>
                <a:fillRect l="0" t="-34" r="0" b="-34"/>
              </a:stretch>
            </a:blipFill>
          </p:spPr>
        </p:sp>
      </p:grpSp>
      <p:sp>
        <p:nvSpPr>
          <p:cNvPr name="TextBox 6" id="6"/>
          <p:cNvSpPr txBox="true"/>
          <p:nvPr/>
        </p:nvSpPr>
        <p:spPr>
          <a:xfrm rot="0">
            <a:off x="1028700" y="6757845"/>
            <a:ext cx="13127269" cy="775716"/>
          </a:xfrm>
          <a:prstGeom prst="rect">
            <a:avLst/>
          </a:prstGeom>
        </p:spPr>
        <p:txBody>
          <a:bodyPr anchor="t" rtlCol="false" tIns="0" lIns="0" bIns="0" rIns="0">
            <a:spAutoFit/>
          </a:bodyPr>
          <a:lstStyle/>
          <a:p>
            <a:pPr algn="just">
              <a:lnSpc>
                <a:spcPts val="3131"/>
              </a:lnSpc>
            </a:pPr>
            <a:r>
              <a:rPr lang="en-US" sz="2699" spc="-52">
                <a:solidFill>
                  <a:srgbClr val="1E1E1E"/>
                </a:solidFill>
                <a:latin typeface="Montserrat"/>
                <a:ea typeface="Montserrat"/>
                <a:cs typeface="Montserrat"/>
                <a:sym typeface="Montserrat"/>
              </a:rPr>
              <a:t>Karena perpustakaan saat ini membutuhkan suatu sistem yang bisa membantu mengelola data buku dengan lebih efektif dan efisien. </a:t>
            </a:r>
          </a:p>
        </p:txBody>
      </p:sp>
      <p:sp>
        <p:nvSpPr>
          <p:cNvPr name="TextBox 7" id="7"/>
          <p:cNvSpPr txBox="true"/>
          <p:nvPr/>
        </p:nvSpPr>
        <p:spPr>
          <a:xfrm rot="0">
            <a:off x="466373" y="1302344"/>
            <a:ext cx="11944788" cy="1144267"/>
          </a:xfrm>
          <a:prstGeom prst="rect">
            <a:avLst/>
          </a:prstGeom>
        </p:spPr>
        <p:txBody>
          <a:bodyPr anchor="t" rtlCol="false" tIns="0" lIns="0" bIns="0" rIns="0">
            <a:spAutoFit/>
          </a:bodyPr>
          <a:lstStyle/>
          <a:p>
            <a:pPr algn="l">
              <a:lnSpc>
                <a:spcPts val="5119"/>
              </a:lnSpc>
            </a:pPr>
            <a:r>
              <a:rPr lang="en-US" b="true" sz="6398" spc="-446">
                <a:solidFill>
                  <a:srgbClr val="1E1E1E"/>
                </a:solidFill>
                <a:latin typeface="Montserrat Bold"/>
                <a:ea typeface="Montserrat Bold"/>
                <a:cs typeface="Montserrat Bold"/>
                <a:sym typeface="Montserrat Bold"/>
              </a:rPr>
              <a:t>sistem manejemen perpustakaan modern</a:t>
            </a:r>
          </a:p>
        </p:txBody>
      </p:sp>
      <p:sp>
        <p:nvSpPr>
          <p:cNvPr name="TextBox 8" id="8"/>
          <p:cNvSpPr txBox="true"/>
          <p:nvPr/>
        </p:nvSpPr>
        <p:spPr>
          <a:xfrm rot="0">
            <a:off x="466373" y="6260602"/>
            <a:ext cx="7421213" cy="299609"/>
          </a:xfrm>
          <a:prstGeom prst="rect">
            <a:avLst/>
          </a:prstGeom>
        </p:spPr>
        <p:txBody>
          <a:bodyPr anchor="t" rtlCol="false" tIns="0" lIns="0" bIns="0" rIns="0">
            <a:spAutoFit/>
          </a:bodyPr>
          <a:lstStyle/>
          <a:p>
            <a:pPr algn="l">
              <a:lnSpc>
                <a:spcPts val="3181"/>
              </a:lnSpc>
            </a:pPr>
            <a:r>
              <a:rPr lang="en-US" b="true" sz="3976" spc="-278">
                <a:solidFill>
                  <a:srgbClr val="1E1E1E"/>
                </a:solidFill>
                <a:latin typeface="Montserrat Bold"/>
                <a:ea typeface="Montserrat Bold"/>
                <a:cs typeface="Montserrat Bold"/>
                <a:sym typeface="Montserrat Bold"/>
              </a:rPr>
              <a:t>Alasan pemilihan?</a:t>
            </a:r>
          </a:p>
        </p:txBody>
      </p:sp>
      <p:sp>
        <p:nvSpPr>
          <p:cNvPr name="TextBox 9" id="9"/>
          <p:cNvSpPr txBox="true"/>
          <p:nvPr/>
        </p:nvSpPr>
        <p:spPr>
          <a:xfrm rot="0">
            <a:off x="1028700" y="2628443"/>
            <a:ext cx="15719936" cy="2882646"/>
          </a:xfrm>
          <a:prstGeom prst="rect">
            <a:avLst/>
          </a:prstGeom>
        </p:spPr>
        <p:txBody>
          <a:bodyPr anchor="t" rtlCol="false" tIns="0" lIns="0" bIns="0" rIns="0">
            <a:spAutoFit/>
          </a:bodyPr>
          <a:lstStyle/>
          <a:p>
            <a:pPr algn="just">
              <a:lnSpc>
                <a:spcPts val="3363"/>
              </a:lnSpc>
            </a:pPr>
            <a:r>
              <a:rPr lang="en-US" sz="2899" spc="-56">
                <a:solidFill>
                  <a:srgbClr val="1E1E1E"/>
                </a:solidFill>
                <a:latin typeface="Montserrat"/>
                <a:ea typeface="Montserrat"/>
                <a:cs typeface="Montserrat"/>
                <a:sym typeface="Montserrat"/>
              </a:rPr>
              <a:t> Sistem Perpustakaan Modern adalah suatu sistem yang dirancang untuk mengelola berbagai kegiatan di perpustakaan, mulai dari mengelola koleksi buku, mencari informasi buku, proses peminjaman dan pengembalian buku, hingga menyimpan riwayat transaksi. Dengan sistem ini, petugas perpustakaan bisa mengelola data dengan lebih mudah, dan pengguna bisa mendapatkan informasi tentang ketersediaan buku dengan cepat dan akurat.</a:t>
            </a:r>
          </a:p>
          <a:p>
            <a:pPr algn="just">
              <a:lnSpc>
                <a:spcPts val="289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TextBox 2" id="2"/>
          <p:cNvSpPr txBox="true"/>
          <p:nvPr/>
        </p:nvSpPr>
        <p:spPr>
          <a:xfrm rot="0">
            <a:off x="1028700" y="1930613"/>
            <a:ext cx="13478227" cy="4969983"/>
          </a:xfrm>
          <a:prstGeom prst="rect">
            <a:avLst/>
          </a:prstGeom>
        </p:spPr>
        <p:txBody>
          <a:bodyPr anchor="t" rtlCol="false" tIns="0" lIns="0" bIns="0" rIns="0">
            <a:spAutoFit/>
          </a:bodyPr>
          <a:lstStyle/>
          <a:p>
            <a:pPr algn="ctr">
              <a:lnSpc>
                <a:spcPts val="6427"/>
              </a:lnSpc>
            </a:pPr>
            <a:r>
              <a:rPr lang="en-US" sz="3967" spc="-79">
                <a:solidFill>
                  <a:srgbClr val="1E1E1E"/>
                </a:solidFill>
                <a:latin typeface="Montserrat"/>
                <a:ea typeface="Montserrat"/>
                <a:cs typeface="Montserrat"/>
                <a:sym typeface="Montserrat"/>
              </a:rPr>
              <a:t>sistem dapat menambahkan data buku baru, menampilkan semua data buku yang ada, mencari buku berdasarkan judul, melayani peminjaman dan pengembalian buku, dan menampilkan daftar buku yang sedang dipinjam juga menghapus data buku jika buku tersebut tidak tersedia lagi atau rusak.</a:t>
            </a:r>
          </a:p>
        </p:txBody>
      </p:sp>
      <p:sp>
        <p:nvSpPr>
          <p:cNvPr name="Freeform 3" id="3"/>
          <p:cNvSpPr/>
          <p:nvPr/>
        </p:nvSpPr>
        <p:spPr>
          <a:xfrm flipH="false" flipV="false" rot="0">
            <a:off x="16942222" y="1074087"/>
            <a:ext cx="317078" cy="149895"/>
          </a:xfrm>
          <a:custGeom>
            <a:avLst/>
            <a:gdLst/>
            <a:ahLst/>
            <a:cxnLst/>
            <a:rect r="r" b="b" t="t" l="l"/>
            <a:pathLst>
              <a:path h="149895" w="317078">
                <a:moveTo>
                  <a:pt x="0" y="0"/>
                </a:moveTo>
                <a:lnTo>
                  <a:pt x="317078" y="0"/>
                </a:lnTo>
                <a:lnTo>
                  <a:pt x="317078" y="149895"/>
                </a:lnTo>
                <a:lnTo>
                  <a:pt x="0" y="149895"/>
                </a:lnTo>
                <a:lnTo>
                  <a:pt x="0" y="0"/>
                </a:lnTo>
                <a:close/>
              </a:path>
            </a:pathLst>
          </a:custGeom>
          <a:blipFill>
            <a:blip r:embed="rId2">
              <a:extLst>
                <a:ext uri="{96DAC541-7B7A-43D3-8B79-37D633B846F1}">
                  <asvg:svgBlip xmlns:asvg="http://schemas.microsoft.com/office/drawing/2016/SVG/main" r:embed="rId3"/>
                </a:ext>
              </a:extLst>
            </a:blip>
            <a:stretch>
              <a:fillRect l="-228" t="0" r="-225" b="0"/>
            </a:stretch>
          </a:blipFill>
        </p:spPr>
      </p:sp>
      <p:sp>
        <p:nvSpPr>
          <p:cNvPr name="Freeform 4" id="4"/>
          <p:cNvSpPr/>
          <p:nvPr/>
        </p:nvSpPr>
        <p:spPr>
          <a:xfrm flipH="false" flipV="false" rot="0">
            <a:off x="13589127" y="5597662"/>
            <a:ext cx="5078139" cy="5078139"/>
          </a:xfrm>
          <a:custGeom>
            <a:avLst/>
            <a:gdLst/>
            <a:ahLst/>
            <a:cxnLst/>
            <a:rect r="r" b="b" t="t" l="l"/>
            <a:pathLst>
              <a:path h="5078139" w="5078139">
                <a:moveTo>
                  <a:pt x="0" y="0"/>
                </a:moveTo>
                <a:lnTo>
                  <a:pt x="5078139" y="0"/>
                </a:lnTo>
                <a:lnTo>
                  <a:pt x="5078139" y="5078139"/>
                </a:lnTo>
                <a:lnTo>
                  <a:pt x="0" y="50781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589127" y="0"/>
            <a:ext cx="2629386" cy="2716540"/>
          </a:xfrm>
          <a:custGeom>
            <a:avLst/>
            <a:gdLst/>
            <a:ahLst/>
            <a:cxnLst/>
            <a:rect r="r" b="b" t="t" l="l"/>
            <a:pathLst>
              <a:path h="2716540" w="2629386">
                <a:moveTo>
                  <a:pt x="0" y="0"/>
                </a:moveTo>
                <a:lnTo>
                  <a:pt x="2629386" y="0"/>
                </a:lnTo>
                <a:lnTo>
                  <a:pt x="2629386" y="2716540"/>
                </a:lnTo>
                <a:lnTo>
                  <a:pt x="0" y="2716540"/>
                </a:lnTo>
                <a:lnTo>
                  <a:pt x="0" y="0"/>
                </a:lnTo>
                <a:close/>
              </a:path>
            </a:pathLst>
          </a:custGeom>
          <a:blipFill>
            <a:blip r:embed="rId6">
              <a:extLst>
                <a:ext uri="{96DAC541-7B7A-43D3-8B79-37D633B846F1}">
                  <asvg:svgBlip xmlns:asvg="http://schemas.microsoft.com/office/drawing/2016/SVG/main" r:embed="rId7"/>
                </a:ext>
              </a:extLst>
            </a:blip>
            <a:stretch>
              <a:fillRect l="-31" t="0" r="-31" b="0"/>
            </a:stretch>
          </a:blipFill>
        </p:spPr>
      </p:sp>
      <p:sp>
        <p:nvSpPr>
          <p:cNvPr name="TextBox 6" id="6"/>
          <p:cNvSpPr txBox="true"/>
          <p:nvPr/>
        </p:nvSpPr>
        <p:spPr>
          <a:xfrm rot="0">
            <a:off x="0" y="803091"/>
            <a:ext cx="12333465" cy="1451381"/>
          </a:xfrm>
          <a:prstGeom prst="rect">
            <a:avLst/>
          </a:prstGeom>
        </p:spPr>
        <p:txBody>
          <a:bodyPr anchor="t" rtlCol="false" tIns="0" lIns="0" bIns="0" rIns="0">
            <a:spAutoFit/>
          </a:bodyPr>
          <a:lstStyle/>
          <a:p>
            <a:pPr algn="l">
              <a:lnSpc>
                <a:spcPts val="6511"/>
              </a:lnSpc>
            </a:pPr>
            <a:r>
              <a:rPr lang="en-US" b="true" sz="8139" spc="-813">
                <a:solidFill>
                  <a:srgbClr val="1E1E1E"/>
                </a:solidFill>
                <a:latin typeface="Montserrat Bold"/>
                <a:ea typeface="Montserrat Bold"/>
                <a:cs typeface="Montserrat Bold"/>
                <a:sym typeface="Montserrat Bold"/>
              </a:rPr>
              <a:t> Analisis kebutuhan Sistem</a:t>
            </a:r>
          </a:p>
          <a:p>
            <a:pPr algn="l">
              <a:lnSpc>
                <a:spcPts val="6511"/>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grpSp>
        <p:nvGrpSpPr>
          <p:cNvPr name="Group 2" id="2"/>
          <p:cNvGrpSpPr/>
          <p:nvPr/>
        </p:nvGrpSpPr>
        <p:grpSpPr>
          <a:xfrm rot="0">
            <a:off x="2821724" y="2924651"/>
            <a:ext cx="12864922" cy="6845941"/>
            <a:chOff x="0" y="0"/>
            <a:chExt cx="17153230" cy="9127922"/>
          </a:xfrm>
        </p:grpSpPr>
        <p:sp>
          <p:nvSpPr>
            <p:cNvPr name="Freeform 3" id="3"/>
            <p:cNvSpPr/>
            <p:nvPr/>
          </p:nvSpPr>
          <p:spPr>
            <a:xfrm flipH="false" flipV="false" rot="0">
              <a:off x="0" y="0"/>
              <a:ext cx="17153255" cy="9127871"/>
            </a:xfrm>
            <a:custGeom>
              <a:avLst/>
              <a:gdLst/>
              <a:ahLst/>
              <a:cxnLst/>
              <a:rect r="r" b="b" t="t" l="l"/>
              <a:pathLst>
                <a:path h="9127871" w="17153255">
                  <a:moveTo>
                    <a:pt x="0" y="0"/>
                  </a:moveTo>
                  <a:lnTo>
                    <a:pt x="17153255" y="0"/>
                  </a:lnTo>
                  <a:lnTo>
                    <a:pt x="17153255" y="9127871"/>
                  </a:lnTo>
                  <a:lnTo>
                    <a:pt x="0" y="9127871"/>
                  </a:lnTo>
                  <a:close/>
                </a:path>
              </a:pathLst>
            </a:custGeom>
            <a:blipFill>
              <a:blip r:embed="rId2"/>
              <a:stretch>
                <a:fillRect l="-2144" t="0" r="-2144" b="0"/>
              </a:stretch>
            </a:blipFill>
          </p:spPr>
        </p:sp>
      </p:grpSp>
      <p:sp>
        <p:nvSpPr>
          <p:cNvPr name="Freeform 4" id="4"/>
          <p:cNvSpPr/>
          <p:nvPr/>
        </p:nvSpPr>
        <p:spPr>
          <a:xfrm flipH="false" flipV="false" rot="0">
            <a:off x="16942222" y="1074087"/>
            <a:ext cx="317078" cy="149895"/>
          </a:xfrm>
          <a:custGeom>
            <a:avLst/>
            <a:gdLst/>
            <a:ahLst/>
            <a:cxnLst/>
            <a:rect r="r" b="b" t="t" l="l"/>
            <a:pathLst>
              <a:path h="149895" w="317078">
                <a:moveTo>
                  <a:pt x="0" y="0"/>
                </a:moveTo>
                <a:lnTo>
                  <a:pt x="317078" y="0"/>
                </a:lnTo>
                <a:lnTo>
                  <a:pt x="317078" y="149895"/>
                </a:lnTo>
                <a:lnTo>
                  <a:pt x="0" y="149895"/>
                </a:lnTo>
                <a:lnTo>
                  <a:pt x="0" y="0"/>
                </a:lnTo>
                <a:close/>
              </a:path>
            </a:pathLst>
          </a:custGeom>
          <a:blipFill>
            <a:blip r:embed="rId3">
              <a:extLst>
                <a:ext uri="{96DAC541-7B7A-43D3-8B79-37D633B846F1}">
                  <asvg:svgBlip xmlns:asvg="http://schemas.microsoft.com/office/drawing/2016/SVG/main" r:embed="rId4"/>
                </a:ext>
              </a:extLst>
            </a:blip>
            <a:stretch>
              <a:fillRect l="-228" t="0" r="-225" b="0"/>
            </a:stretch>
          </a:blipFill>
        </p:spPr>
      </p:sp>
      <p:sp>
        <p:nvSpPr>
          <p:cNvPr name="TextBox 5" id="5"/>
          <p:cNvSpPr txBox="true"/>
          <p:nvPr/>
        </p:nvSpPr>
        <p:spPr>
          <a:xfrm rot="0">
            <a:off x="958996" y="742950"/>
            <a:ext cx="7483812" cy="716280"/>
          </a:xfrm>
          <a:prstGeom prst="rect">
            <a:avLst/>
          </a:prstGeom>
        </p:spPr>
        <p:txBody>
          <a:bodyPr anchor="t" rtlCol="false" tIns="0" lIns="0" bIns="0" rIns="0">
            <a:spAutoFit/>
          </a:bodyPr>
          <a:lstStyle/>
          <a:p>
            <a:pPr algn="l">
              <a:lnSpc>
                <a:spcPts val="7680"/>
              </a:lnSpc>
            </a:pPr>
            <a:r>
              <a:rPr lang="en-US" b="true" sz="9600" spc="-960">
                <a:solidFill>
                  <a:srgbClr val="1E1E1E"/>
                </a:solidFill>
                <a:latin typeface="Montserrat Bold"/>
                <a:ea typeface="Montserrat Bold"/>
                <a:cs typeface="Montserrat Bold"/>
                <a:sym typeface="Montserrat Bold"/>
              </a:rPr>
              <a:t>desain sistem</a:t>
            </a:r>
          </a:p>
        </p:txBody>
      </p:sp>
      <p:sp>
        <p:nvSpPr>
          <p:cNvPr name="TextBox 6" id="6"/>
          <p:cNvSpPr txBox="true"/>
          <p:nvPr/>
        </p:nvSpPr>
        <p:spPr>
          <a:xfrm rot="0">
            <a:off x="1163965" y="1897380"/>
            <a:ext cx="8090221" cy="1027271"/>
          </a:xfrm>
          <a:prstGeom prst="rect">
            <a:avLst/>
          </a:prstGeom>
        </p:spPr>
        <p:txBody>
          <a:bodyPr anchor="t" rtlCol="false" tIns="0" lIns="0" bIns="0" rIns="0">
            <a:spAutoFit/>
          </a:bodyPr>
          <a:lstStyle/>
          <a:p>
            <a:pPr algn="l">
              <a:lnSpc>
                <a:spcPts val="4629"/>
              </a:lnSpc>
            </a:pPr>
            <a:r>
              <a:rPr lang="en-US" b="true" sz="5787" spc="-577">
                <a:solidFill>
                  <a:srgbClr val="1E1E1E"/>
                </a:solidFill>
                <a:latin typeface="Montserrat Bold"/>
                <a:ea typeface="Montserrat Bold"/>
                <a:cs typeface="Montserrat Bold"/>
                <a:sym typeface="Montserrat Bold"/>
              </a:rPr>
              <a:t>Flowchart Sistem</a:t>
            </a:r>
          </a:p>
          <a:p>
            <a:pPr algn="l">
              <a:lnSpc>
                <a:spcPts val="462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TextBox 2" id="2"/>
          <p:cNvSpPr txBox="true"/>
          <p:nvPr/>
        </p:nvSpPr>
        <p:spPr>
          <a:xfrm rot="0">
            <a:off x="680971" y="1033072"/>
            <a:ext cx="6622313" cy="562756"/>
          </a:xfrm>
          <a:prstGeom prst="rect">
            <a:avLst/>
          </a:prstGeom>
        </p:spPr>
        <p:txBody>
          <a:bodyPr anchor="t" rtlCol="false" tIns="0" lIns="0" bIns="0" rIns="0">
            <a:spAutoFit/>
          </a:bodyPr>
          <a:lstStyle/>
          <a:p>
            <a:pPr algn="l">
              <a:lnSpc>
                <a:spcPts val="5969"/>
              </a:lnSpc>
            </a:pPr>
            <a:r>
              <a:rPr lang="en-US" b="true" sz="7462" spc="-746">
                <a:solidFill>
                  <a:srgbClr val="1E1E1E"/>
                </a:solidFill>
                <a:latin typeface="Montserrat Bold"/>
                <a:ea typeface="Montserrat Bold"/>
                <a:cs typeface="Montserrat Bold"/>
                <a:sym typeface="Montserrat Bold"/>
              </a:rPr>
              <a:t>struktur menu</a:t>
            </a:r>
          </a:p>
        </p:txBody>
      </p:sp>
      <p:sp>
        <p:nvSpPr>
          <p:cNvPr name="Freeform 3" id="3"/>
          <p:cNvSpPr/>
          <p:nvPr/>
        </p:nvSpPr>
        <p:spPr>
          <a:xfrm flipH="false" flipV="false" rot="0">
            <a:off x="16942222" y="1074087"/>
            <a:ext cx="317078" cy="149895"/>
          </a:xfrm>
          <a:custGeom>
            <a:avLst/>
            <a:gdLst/>
            <a:ahLst/>
            <a:cxnLst/>
            <a:rect r="r" b="b" t="t" l="l"/>
            <a:pathLst>
              <a:path h="149895" w="317078">
                <a:moveTo>
                  <a:pt x="0" y="0"/>
                </a:moveTo>
                <a:lnTo>
                  <a:pt x="317078" y="0"/>
                </a:lnTo>
                <a:lnTo>
                  <a:pt x="317078" y="149895"/>
                </a:lnTo>
                <a:lnTo>
                  <a:pt x="0" y="149895"/>
                </a:lnTo>
                <a:lnTo>
                  <a:pt x="0" y="0"/>
                </a:lnTo>
                <a:close/>
              </a:path>
            </a:pathLst>
          </a:custGeom>
          <a:blipFill>
            <a:blip r:embed="rId2">
              <a:extLst>
                <a:ext uri="{96DAC541-7B7A-43D3-8B79-37D633B846F1}">
                  <asvg:svgBlip xmlns:asvg="http://schemas.microsoft.com/office/drawing/2016/SVG/main" r:embed="rId3"/>
                </a:ext>
              </a:extLst>
            </a:blip>
            <a:stretch>
              <a:fillRect l="-228" t="0" r="-225" b="0"/>
            </a:stretch>
          </a:blipFill>
        </p:spPr>
      </p:sp>
      <p:sp>
        <p:nvSpPr>
          <p:cNvPr name="TextBox 4" id="4"/>
          <p:cNvSpPr txBox="true"/>
          <p:nvPr/>
        </p:nvSpPr>
        <p:spPr>
          <a:xfrm rot="0">
            <a:off x="165430" y="2712301"/>
            <a:ext cx="4969745" cy="537591"/>
          </a:xfrm>
          <a:prstGeom prst="rect">
            <a:avLst/>
          </a:prstGeom>
        </p:spPr>
        <p:txBody>
          <a:bodyPr anchor="t" rtlCol="false" tIns="0" lIns="0" bIns="0" rIns="0">
            <a:spAutoFit/>
          </a:bodyPr>
          <a:lstStyle/>
          <a:p>
            <a:pPr algn="ctr">
              <a:lnSpc>
                <a:spcPts val="2466"/>
              </a:lnSpc>
            </a:pPr>
            <a:r>
              <a:rPr lang="en-US" b="true" sz="3082" spc="-308">
                <a:solidFill>
                  <a:srgbClr val="1E1E1E"/>
                </a:solidFill>
                <a:latin typeface="Montserrat Bold"/>
                <a:ea typeface="Montserrat Bold"/>
                <a:cs typeface="Montserrat Bold"/>
                <a:sym typeface="Montserrat Bold"/>
              </a:rPr>
              <a:t>Menu Manajemen Data &amp; Koleksi Buku</a:t>
            </a:r>
          </a:p>
        </p:txBody>
      </p:sp>
      <p:sp>
        <p:nvSpPr>
          <p:cNvPr name="TextBox 5" id="5"/>
          <p:cNvSpPr txBox="true"/>
          <p:nvPr/>
        </p:nvSpPr>
        <p:spPr>
          <a:xfrm rot="0">
            <a:off x="330718" y="3470786"/>
            <a:ext cx="5370909" cy="5272180"/>
          </a:xfrm>
          <a:prstGeom prst="rect">
            <a:avLst/>
          </a:prstGeom>
        </p:spPr>
        <p:txBody>
          <a:bodyPr anchor="t" rtlCol="false" tIns="0" lIns="0" bIns="0" rIns="0">
            <a:spAutoFit/>
          </a:bodyPr>
          <a:lstStyle/>
          <a:p>
            <a:pPr algn="l">
              <a:lnSpc>
                <a:spcPts val="5267"/>
              </a:lnSpc>
            </a:pPr>
            <a:r>
              <a:rPr lang="en-US" sz="2609" spc="-258">
                <a:solidFill>
                  <a:srgbClr val="1E1E1E"/>
                </a:solidFill>
                <a:latin typeface="Anonymous Pro"/>
                <a:ea typeface="Anonymous Pro"/>
                <a:cs typeface="Anonymous Pro"/>
                <a:sym typeface="Anonymous Pro"/>
              </a:rPr>
              <a:t>1.	Tampilkan Semua Koleksi Buku</a:t>
            </a:r>
          </a:p>
          <a:p>
            <a:pPr algn="l">
              <a:lnSpc>
                <a:spcPts val="5267"/>
              </a:lnSpc>
            </a:pPr>
            <a:r>
              <a:rPr lang="en-US" sz="2609" spc="-258">
                <a:solidFill>
                  <a:srgbClr val="1E1E1E"/>
                </a:solidFill>
                <a:latin typeface="Anonymous Pro"/>
                <a:ea typeface="Anonymous Pro"/>
                <a:cs typeface="Anonymous Pro"/>
                <a:sym typeface="Anonymous Pro"/>
              </a:rPr>
              <a:t>2.	Cari Buku Berdasarkan Judul/ID &amp; Rekomendasi</a:t>
            </a:r>
          </a:p>
          <a:p>
            <a:pPr algn="l">
              <a:lnSpc>
                <a:spcPts val="5267"/>
              </a:lnSpc>
            </a:pPr>
            <a:r>
              <a:rPr lang="en-US" sz="2609" spc="-258">
                <a:solidFill>
                  <a:srgbClr val="1E1E1E"/>
                </a:solidFill>
                <a:latin typeface="Anonymous Pro"/>
                <a:ea typeface="Anonymous Pro"/>
                <a:cs typeface="Anonymous Pro"/>
                <a:sym typeface="Anonymous Pro"/>
              </a:rPr>
              <a:t>3.	Urutkan Semua Daftar Buku (A-Z)</a:t>
            </a:r>
          </a:p>
          <a:p>
            <a:pPr algn="l">
              <a:lnSpc>
                <a:spcPts val="5267"/>
              </a:lnSpc>
            </a:pPr>
            <a:r>
              <a:rPr lang="en-US" sz="2609" spc="-258">
                <a:solidFill>
                  <a:srgbClr val="1E1E1E"/>
                </a:solidFill>
                <a:latin typeface="Anonymous Pro"/>
                <a:ea typeface="Anonymous Pro"/>
                <a:cs typeface="Anonymous Pro"/>
                <a:sym typeface="Anonymous Pro"/>
              </a:rPr>
              <a:t>4.	Tambah Buku Baru</a:t>
            </a:r>
          </a:p>
          <a:p>
            <a:pPr algn="l">
              <a:lnSpc>
                <a:spcPts val="5267"/>
              </a:lnSpc>
            </a:pPr>
            <a:r>
              <a:rPr lang="en-US" sz="2609" spc="-258">
                <a:solidFill>
                  <a:srgbClr val="1E1E1E"/>
                </a:solidFill>
                <a:latin typeface="Anonymous Pro"/>
                <a:ea typeface="Anonymous Pro"/>
                <a:cs typeface="Anonymous Pro"/>
                <a:sym typeface="Anonymous Pro"/>
              </a:rPr>
              <a:t>5.	Hapus Koleksi Buku</a:t>
            </a:r>
          </a:p>
          <a:p>
            <a:pPr algn="l">
              <a:lnSpc>
                <a:spcPts val="5267"/>
              </a:lnSpc>
            </a:pPr>
            <a:r>
              <a:rPr lang="en-US" sz="2609" spc="-258">
                <a:solidFill>
                  <a:srgbClr val="1E1E1E"/>
                </a:solidFill>
                <a:latin typeface="Anonymous Pro"/>
                <a:ea typeface="Anonymous Pro"/>
                <a:cs typeface="Anonymous Pro"/>
                <a:sym typeface="Anonymous Pro"/>
              </a:rPr>
              <a:t>6.	Kembali ke Menu Utama</a:t>
            </a:r>
          </a:p>
          <a:p>
            <a:pPr algn="l">
              <a:lnSpc>
                <a:spcPts val="5267"/>
              </a:lnSpc>
            </a:pPr>
          </a:p>
        </p:txBody>
      </p:sp>
      <p:sp>
        <p:nvSpPr>
          <p:cNvPr name="TextBox 6" id="6"/>
          <p:cNvSpPr txBox="true"/>
          <p:nvPr/>
        </p:nvSpPr>
        <p:spPr>
          <a:xfrm rot="0">
            <a:off x="5701617" y="2712301"/>
            <a:ext cx="4303262" cy="651815"/>
          </a:xfrm>
          <a:prstGeom prst="rect">
            <a:avLst/>
          </a:prstGeom>
        </p:spPr>
        <p:txBody>
          <a:bodyPr anchor="t" rtlCol="false" tIns="0" lIns="0" bIns="0" rIns="0">
            <a:spAutoFit/>
          </a:bodyPr>
          <a:lstStyle/>
          <a:p>
            <a:pPr algn="ctr">
              <a:lnSpc>
                <a:spcPts val="2466"/>
              </a:lnSpc>
            </a:pPr>
            <a:r>
              <a:rPr lang="en-US" b="true" sz="3082" spc="-308">
                <a:solidFill>
                  <a:srgbClr val="1E1E1E"/>
                </a:solidFill>
                <a:latin typeface="Montserrat Bold"/>
                <a:ea typeface="Montserrat Bold"/>
                <a:cs typeface="Montserrat Bold"/>
                <a:sym typeface="Montserrat Bold"/>
              </a:rPr>
              <a:t>	Menu Layanan Loket (Antrean &amp; Transaksi)</a:t>
            </a:r>
          </a:p>
        </p:txBody>
      </p:sp>
      <p:sp>
        <p:nvSpPr>
          <p:cNvPr name="TextBox 7" id="7"/>
          <p:cNvSpPr txBox="true"/>
          <p:nvPr/>
        </p:nvSpPr>
        <p:spPr>
          <a:xfrm rot="0">
            <a:off x="10909106" y="2655189"/>
            <a:ext cx="3897573" cy="956615"/>
          </a:xfrm>
          <a:prstGeom prst="rect">
            <a:avLst/>
          </a:prstGeom>
        </p:spPr>
        <p:txBody>
          <a:bodyPr anchor="t" rtlCol="false" tIns="0" lIns="0" bIns="0" rIns="0">
            <a:spAutoFit/>
          </a:bodyPr>
          <a:lstStyle/>
          <a:p>
            <a:pPr algn="ctr">
              <a:lnSpc>
                <a:spcPts val="2466"/>
              </a:lnSpc>
            </a:pPr>
            <a:r>
              <a:rPr lang="en-US" b="true" sz="3082" spc="-308">
                <a:solidFill>
                  <a:srgbClr val="1E1E1E"/>
                </a:solidFill>
                <a:latin typeface="Montserrat Bold"/>
                <a:ea typeface="Montserrat Bold"/>
                <a:cs typeface="Montserrat Bold"/>
                <a:sym typeface="Montserrat Bold"/>
              </a:rPr>
              <a:t>	Menu Laporan Sirkulasi &amp; Keuangan Perpustakaan</a:t>
            </a:r>
          </a:p>
        </p:txBody>
      </p:sp>
      <p:sp>
        <p:nvSpPr>
          <p:cNvPr name="TextBox 8" id="8"/>
          <p:cNvSpPr txBox="true"/>
          <p:nvPr/>
        </p:nvSpPr>
        <p:spPr>
          <a:xfrm rot="0">
            <a:off x="14806679" y="2864701"/>
            <a:ext cx="3897573" cy="537591"/>
          </a:xfrm>
          <a:prstGeom prst="rect">
            <a:avLst/>
          </a:prstGeom>
        </p:spPr>
        <p:txBody>
          <a:bodyPr anchor="t" rtlCol="false" tIns="0" lIns="0" bIns="0" rIns="0">
            <a:spAutoFit/>
          </a:bodyPr>
          <a:lstStyle/>
          <a:p>
            <a:pPr algn="ctr">
              <a:lnSpc>
                <a:spcPts val="2466"/>
              </a:lnSpc>
            </a:pPr>
            <a:r>
              <a:rPr lang="en-US" b="true" sz="3082" spc="-308">
                <a:solidFill>
                  <a:srgbClr val="1E1E1E"/>
                </a:solidFill>
                <a:latin typeface="Montserrat Bold"/>
                <a:ea typeface="Montserrat Bold"/>
                <a:cs typeface="Montserrat Bold"/>
                <a:sym typeface="Montserrat Bold"/>
              </a:rPr>
              <a:t> Keluar Sistem</a:t>
            </a:r>
          </a:p>
          <a:p>
            <a:pPr algn="ctr">
              <a:lnSpc>
                <a:spcPts val="2466"/>
              </a:lnSpc>
            </a:pPr>
          </a:p>
        </p:txBody>
      </p:sp>
      <p:sp>
        <p:nvSpPr>
          <p:cNvPr name="TextBox 9" id="9"/>
          <p:cNvSpPr txBox="true"/>
          <p:nvPr/>
        </p:nvSpPr>
        <p:spPr>
          <a:xfrm rot="0">
            <a:off x="6036373" y="3470786"/>
            <a:ext cx="4537986" cy="6605680"/>
          </a:xfrm>
          <a:prstGeom prst="rect">
            <a:avLst/>
          </a:prstGeom>
        </p:spPr>
        <p:txBody>
          <a:bodyPr anchor="t" rtlCol="false" tIns="0" lIns="0" bIns="0" rIns="0">
            <a:spAutoFit/>
          </a:bodyPr>
          <a:lstStyle/>
          <a:p>
            <a:pPr algn="l">
              <a:lnSpc>
                <a:spcPts val="5267"/>
              </a:lnSpc>
            </a:pPr>
            <a:r>
              <a:rPr lang="en-US" sz="2609" spc="-258">
                <a:solidFill>
                  <a:srgbClr val="1E1E1E"/>
                </a:solidFill>
                <a:latin typeface="Anonymous Pro"/>
                <a:ea typeface="Anonymous Pro"/>
                <a:cs typeface="Anonymous Pro"/>
                <a:sym typeface="Anonymous Pro"/>
              </a:rPr>
              <a:t>1.	Ambil Nomor Antrean Mahasiswa</a:t>
            </a:r>
          </a:p>
          <a:p>
            <a:pPr algn="l">
              <a:lnSpc>
                <a:spcPts val="5267"/>
              </a:lnSpc>
            </a:pPr>
            <a:r>
              <a:rPr lang="en-US" sz="2609" spc="-258">
                <a:solidFill>
                  <a:srgbClr val="1E1E1E"/>
                </a:solidFill>
                <a:latin typeface="Anonymous Pro"/>
                <a:ea typeface="Anonymous Pro"/>
                <a:cs typeface="Anonymous Pro"/>
                <a:sym typeface="Anonymous Pro"/>
              </a:rPr>
              <a:t>2.	Lihat Daftar Seluruh Antrean Aktif</a:t>
            </a:r>
          </a:p>
          <a:p>
            <a:pPr algn="l">
              <a:lnSpc>
                <a:spcPts val="5267"/>
              </a:lnSpc>
            </a:pPr>
            <a:r>
              <a:rPr lang="en-US" sz="2609" spc="-258">
                <a:solidFill>
                  <a:srgbClr val="1E1E1E"/>
                </a:solidFill>
                <a:latin typeface="Anonymous Pro"/>
                <a:ea typeface="Anonymous Pro"/>
                <a:cs typeface="Anonymous Pro"/>
                <a:sym typeface="Anonymous Pro"/>
              </a:rPr>
              <a:t>3.	Panggil/Proses Antrean Terdepan</a:t>
            </a:r>
          </a:p>
          <a:p>
            <a:pPr algn="l">
              <a:lnSpc>
                <a:spcPts val="5267"/>
              </a:lnSpc>
            </a:pPr>
            <a:r>
              <a:rPr lang="en-US" sz="2609" spc="-258">
                <a:solidFill>
                  <a:srgbClr val="1E1E1E"/>
                </a:solidFill>
                <a:latin typeface="Anonymous Pro"/>
                <a:ea typeface="Anonymous Pro"/>
                <a:cs typeface="Anonymous Pro"/>
                <a:sym typeface="Anonymous Pro"/>
              </a:rPr>
              <a:t>4.	Layanan Peminjaman Buku</a:t>
            </a:r>
          </a:p>
          <a:p>
            <a:pPr algn="l">
              <a:lnSpc>
                <a:spcPts val="5267"/>
              </a:lnSpc>
            </a:pPr>
            <a:r>
              <a:rPr lang="en-US" sz="2609" spc="-258">
                <a:solidFill>
                  <a:srgbClr val="1E1E1E"/>
                </a:solidFill>
                <a:latin typeface="Anonymous Pro"/>
                <a:ea typeface="Anonymous Pro"/>
                <a:cs typeface="Anonymous Pro"/>
                <a:sym typeface="Anonymous Pro"/>
              </a:rPr>
              <a:t>5.	Layanan Pengembalian Buku</a:t>
            </a:r>
          </a:p>
          <a:p>
            <a:pPr algn="l">
              <a:lnSpc>
                <a:spcPts val="5267"/>
              </a:lnSpc>
            </a:pPr>
            <a:r>
              <a:rPr lang="en-US" sz="2609" spc="-258">
                <a:solidFill>
                  <a:srgbClr val="1E1E1E"/>
                </a:solidFill>
                <a:latin typeface="Anonymous Pro"/>
                <a:ea typeface="Anonymous Pro"/>
                <a:cs typeface="Anonymous Pro"/>
                <a:sym typeface="Anonymous Pro"/>
              </a:rPr>
              <a:t>6.	Kembali ke Menu Utama</a:t>
            </a:r>
          </a:p>
          <a:p>
            <a:pPr algn="l">
              <a:lnSpc>
                <a:spcPts val="5267"/>
              </a:lnSpc>
            </a:pPr>
          </a:p>
        </p:txBody>
      </p:sp>
      <p:sp>
        <p:nvSpPr>
          <p:cNvPr name="TextBox 10" id="10"/>
          <p:cNvSpPr txBox="true"/>
          <p:nvPr/>
        </p:nvSpPr>
        <p:spPr>
          <a:xfrm rot="0">
            <a:off x="10909106" y="3470786"/>
            <a:ext cx="4537986" cy="4605430"/>
          </a:xfrm>
          <a:prstGeom prst="rect">
            <a:avLst/>
          </a:prstGeom>
        </p:spPr>
        <p:txBody>
          <a:bodyPr anchor="t" rtlCol="false" tIns="0" lIns="0" bIns="0" rIns="0">
            <a:spAutoFit/>
          </a:bodyPr>
          <a:lstStyle/>
          <a:p>
            <a:pPr algn="l">
              <a:lnSpc>
                <a:spcPts val="5267"/>
              </a:lnSpc>
            </a:pPr>
            <a:r>
              <a:rPr lang="en-US" sz="2609" spc="-258">
                <a:solidFill>
                  <a:srgbClr val="1E1E1E"/>
                </a:solidFill>
                <a:latin typeface="Anonymous Pro"/>
                <a:ea typeface="Anonymous Pro"/>
                <a:cs typeface="Anonymous Pro"/>
                <a:sym typeface="Anonymous Pro"/>
              </a:rPr>
              <a:t>1.	Lihat Riwayat Transaksi Terbaru</a:t>
            </a:r>
          </a:p>
          <a:p>
            <a:pPr algn="l">
              <a:lnSpc>
                <a:spcPts val="5267"/>
              </a:lnSpc>
            </a:pPr>
            <a:r>
              <a:rPr lang="en-US" sz="2609" spc="-258">
                <a:solidFill>
                  <a:srgbClr val="1E1E1E"/>
                </a:solidFill>
                <a:latin typeface="Anonymous Pro"/>
                <a:ea typeface="Anonymous Pro"/>
                <a:cs typeface="Anonymous Pro"/>
                <a:sym typeface="Anonymous Pro"/>
              </a:rPr>
              <a:t>2.	Lihat Laporan Kas Denda</a:t>
            </a:r>
          </a:p>
          <a:p>
            <a:pPr algn="l">
              <a:lnSpc>
                <a:spcPts val="5267"/>
              </a:lnSpc>
            </a:pPr>
            <a:r>
              <a:rPr lang="en-US" sz="2609" spc="-258">
                <a:solidFill>
                  <a:srgbClr val="1E1E1E"/>
                </a:solidFill>
                <a:latin typeface="Anonymous Pro"/>
                <a:ea typeface="Anonymous Pro"/>
                <a:cs typeface="Anonymous Pro"/>
                <a:sym typeface="Anonymous Pro"/>
              </a:rPr>
              <a:t>3.	Hapus Riwayat Transaksi Terbaru</a:t>
            </a:r>
          </a:p>
          <a:p>
            <a:pPr algn="l">
              <a:lnSpc>
                <a:spcPts val="5267"/>
              </a:lnSpc>
            </a:pPr>
            <a:r>
              <a:rPr lang="en-US" sz="2609" spc="-258">
                <a:solidFill>
                  <a:srgbClr val="1E1E1E"/>
                </a:solidFill>
                <a:latin typeface="Anonymous Pro"/>
                <a:ea typeface="Anonymous Pro"/>
                <a:cs typeface="Anonymous Pro"/>
                <a:sym typeface="Anonymous Pro"/>
              </a:rPr>
              <a:t>4.	Kembali ke Menu Utama</a:t>
            </a:r>
          </a:p>
          <a:p>
            <a:pPr algn="l">
              <a:lnSpc>
                <a:spcPts val="5267"/>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TextBox 2" id="2"/>
          <p:cNvSpPr txBox="true"/>
          <p:nvPr/>
        </p:nvSpPr>
        <p:spPr>
          <a:xfrm rot="0">
            <a:off x="342081" y="984018"/>
            <a:ext cx="17129150" cy="1498606"/>
          </a:xfrm>
          <a:prstGeom prst="rect">
            <a:avLst/>
          </a:prstGeom>
        </p:spPr>
        <p:txBody>
          <a:bodyPr anchor="t" rtlCol="false" tIns="0" lIns="0" bIns="0" rIns="0">
            <a:spAutoFit/>
          </a:bodyPr>
          <a:lstStyle/>
          <a:p>
            <a:pPr algn="l">
              <a:lnSpc>
                <a:spcPts val="5610"/>
              </a:lnSpc>
            </a:pPr>
            <a:r>
              <a:rPr lang="en-US" b="true" sz="5100" spc="-509">
                <a:solidFill>
                  <a:srgbClr val="1E1E1E"/>
                </a:solidFill>
                <a:latin typeface="Montserrat Bold"/>
                <a:ea typeface="Montserrat Bold"/>
                <a:cs typeface="Montserrat Bold"/>
                <a:sym typeface="Montserrat Bold"/>
              </a:rPr>
              <a:t>Struktur Data dan Alasan Pemilihan </a:t>
            </a:r>
          </a:p>
          <a:p>
            <a:pPr algn="l">
              <a:lnSpc>
                <a:spcPts val="6490"/>
              </a:lnSpc>
            </a:pPr>
          </a:p>
        </p:txBody>
      </p:sp>
      <p:sp>
        <p:nvSpPr>
          <p:cNvPr name="TextBox 3" id="3"/>
          <p:cNvSpPr txBox="true"/>
          <p:nvPr/>
        </p:nvSpPr>
        <p:spPr>
          <a:xfrm rot="0">
            <a:off x="342081" y="3418856"/>
            <a:ext cx="8145361" cy="1143467"/>
          </a:xfrm>
          <a:prstGeom prst="rect">
            <a:avLst/>
          </a:prstGeom>
        </p:spPr>
        <p:txBody>
          <a:bodyPr anchor="t" rtlCol="false" tIns="0" lIns="0" bIns="0" rIns="0">
            <a:spAutoFit/>
          </a:bodyPr>
          <a:lstStyle/>
          <a:p>
            <a:pPr algn="just">
              <a:lnSpc>
                <a:spcPts val="2925"/>
              </a:lnSpc>
            </a:pPr>
            <a:r>
              <a:rPr lang="en-US" sz="2378" spc="-47">
                <a:solidFill>
                  <a:srgbClr val="1E1E1E"/>
                </a:solidFill>
                <a:latin typeface="Anonymous Pro"/>
                <a:ea typeface="Anonymous Pro"/>
                <a:cs typeface="Anonymous Pro"/>
                <a:sym typeface="Anonymous Pro"/>
              </a:rPr>
              <a:t> Digunakan untuk mengelompokkan data buku (judul, penulis, tahun, dll.) dalam satu kesatuan sehingga data lebih terorganisir dan mudah dikelola.</a:t>
            </a:r>
          </a:p>
        </p:txBody>
      </p:sp>
      <p:sp>
        <p:nvSpPr>
          <p:cNvPr name="Freeform 4" id="4"/>
          <p:cNvSpPr/>
          <p:nvPr/>
        </p:nvSpPr>
        <p:spPr>
          <a:xfrm flipH="false" flipV="false" rot="0">
            <a:off x="16942222" y="1074087"/>
            <a:ext cx="317078" cy="149895"/>
          </a:xfrm>
          <a:custGeom>
            <a:avLst/>
            <a:gdLst/>
            <a:ahLst/>
            <a:cxnLst/>
            <a:rect r="r" b="b" t="t" l="l"/>
            <a:pathLst>
              <a:path h="149895" w="317078">
                <a:moveTo>
                  <a:pt x="0" y="0"/>
                </a:moveTo>
                <a:lnTo>
                  <a:pt x="317078" y="0"/>
                </a:lnTo>
                <a:lnTo>
                  <a:pt x="317078" y="149895"/>
                </a:lnTo>
                <a:lnTo>
                  <a:pt x="0" y="149895"/>
                </a:lnTo>
                <a:lnTo>
                  <a:pt x="0" y="0"/>
                </a:lnTo>
                <a:close/>
              </a:path>
            </a:pathLst>
          </a:custGeom>
          <a:blipFill>
            <a:blip r:embed="rId2">
              <a:extLst>
                <a:ext uri="{96DAC541-7B7A-43D3-8B79-37D633B846F1}">
                  <asvg:svgBlip xmlns:asvg="http://schemas.microsoft.com/office/drawing/2016/SVG/main" r:embed="rId3"/>
                </a:ext>
              </a:extLst>
            </a:blip>
            <a:stretch>
              <a:fillRect l="-228" t="0" r="-225" b="0"/>
            </a:stretch>
          </a:blipFill>
        </p:spPr>
      </p:sp>
      <p:sp>
        <p:nvSpPr>
          <p:cNvPr name="TextBox 5" id="5"/>
          <p:cNvSpPr txBox="true"/>
          <p:nvPr/>
        </p:nvSpPr>
        <p:spPr>
          <a:xfrm rot="0">
            <a:off x="342081" y="2261445"/>
            <a:ext cx="10108825" cy="1562205"/>
          </a:xfrm>
          <a:prstGeom prst="rect">
            <a:avLst/>
          </a:prstGeom>
        </p:spPr>
        <p:txBody>
          <a:bodyPr anchor="t" rtlCol="false" tIns="0" lIns="0" bIns="0" rIns="0">
            <a:spAutoFit/>
          </a:bodyPr>
          <a:lstStyle/>
          <a:p>
            <a:pPr algn="l">
              <a:lnSpc>
                <a:spcPts val="4134"/>
              </a:lnSpc>
            </a:pPr>
            <a:r>
              <a:rPr lang="en-US" sz="3758" spc="-374">
                <a:solidFill>
                  <a:srgbClr val="1E1E1E"/>
                </a:solidFill>
                <a:latin typeface="Lovelo"/>
                <a:ea typeface="Lovelo"/>
                <a:cs typeface="Lovelo"/>
                <a:sym typeface="Lovelo"/>
              </a:rPr>
              <a:t> </a:t>
            </a:r>
          </a:p>
          <a:p>
            <a:pPr algn="l">
              <a:lnSpc>
                <a:spcPts val="4134"/>
              </a:lnSpc>
            </a:pPr>
            <a:r>
              <a:rPr lang="en-US" sz="3758" spc="-374">
                <a:solidFill>
                  <a:srgbClr val="1E1E1E"/>
                </a:solidFill>
                <a:latin typeface="Lovelo"/>
                <a:ea typeface="Lovelo"/>
                <a:cs typeface="Lovelo"/>
                <a:sym typeface="Lovelo"/>
              </a:rPr>
              <a:t>Struct</a:t>
            </a:r>
          </a:p>
          <a:p>
            <a:pPr algn="l">
              <a:lnSpc>
                <a:spcPts val="4134"/>
              </a:lnSpc>
            </a:pPr>
          </a:p>
        </p:txBody>
      </p:sp>
      <p:sp>
        <p:nvSpPr>
          <p:cNvPr name="TextBox 6" id="6"/>
          <p:cNvSpPr txBox="true"/>
          <p:nvPr/>
        </p:nvSpPr>
        <p:spPr>
          <a:xfrm rot="0">
            <a:off x="9522771" y="2777900"/>
            <a:ext cx="10108825" cy="543001"/>
          </a:xfrm>
          <a:prstGeom prst="rect">
            <a:avLst/>
          </a:prstGeom>
        </p:spPr>
        <p:txBody>
          <a:bodyPr anchor="t" rtlCol="false" tIns="0" lIns="0" bIns="0" rIns="0">
            <a:spAutoFit/>
          </a:bodyPr>
          <a:lstStyle/>
          <a:p>
            <a:pPr algn="l">
              <a:lnSpc>
                <a:spcPts val="4134"/>
              </a:lnSpc>
            </a:pPr>
            <a:r>
              <a:rPr lang="en-US" sz="3758" spc="-374">
                <a:solidFill>
                  <a:srgbClr val="1E1E1E"/>
                </a:solidFill>
                <a:latin typeface="Lovelo"/>
                <a:ea typeface="Lovelo"/>
                <a:cs typeface="Lovelo"/>
                <a:sym typeface="Lovelo"/>
              </a:rPr>
              <a:t>Queue</a:t>
            </a:r>
          </a:p>
        </p:txBody>
      </p:sp>
      <p:sp>
        <p:nvSpPr>
          <p:cNvPr name="TextBox 7" id="7"/>
          <p:cNvSpPr txBox="true"/>
          <p:nvPr/>
        </p:nvSpPr>
        <p:spPr>
          <a:xfrm rot="0">
            <a:off x="9522771" y="3418856"/>
            <a:ext cx="8145361" cy="1495882"/>
          </a:xfrm>
          <a:prstGeom prst="rect">
            <a:avLst/>
          </a:prstGeom>
        </p:spPr>
        <p:txBody>
          <a:bodyPr anchor="t" rtlCol="false" tIns="0" lIns="0" bIns="0" rIns="0">
            <a:spAutoFit/>
          </a:bodyPr>
          <a:lstStyle/>
          <a:p>
            <a:pPr algn="just">
              <a:lnSpc>
                <a:spcPts val="2925"/>
              </a:lnSpc>
            </a:pPr>
            <a:r>
              <a:rPr lang="en-US" sz="2378" spc="-47">
                <a:solidFill>
                  <a:srgbClr val="1E1E1E"/>
                </a:solidFill>
                <a:latin typeface="Anonymous Pro"/>
                <a:ea typeface="Anonymous Pro"/>
                <a:cs typeface="Anonymous Pro"/>
                <a:sym typeface="Anonymous Pro"/>
              </a:rPr>
              <a:t>Sistem layanan loket mengandalkan Queue (Antrean) dengan prinsip FIFO (First-In-First-Out). Data mahasiswa yang akan meminjam/mengembalikan buku disimpan dalam NodeQueue.</a:t>
            </a:r>
          </a:p>
        </p:txBody>
      </p:sp>
      <p:sp>
        <p:nvSpPr>
          <p:cNvPr name="TextBox 8" id="8"/>
          <p:cNvSpPr txBox="true"/>
          <p:nvPr/>
        </p:nvSpPr>
        <p:spPr>
          <a:xfrm rot="0">
            <a:off x="342081" y="5431507"/>
            <a:ext cx="10108825" cy="543001"/>
          </a:xfrm>
          <a:prstGeom prst="rect">
            <a:avLst/>
          </a:prstGeom>
        </p:spPr>
        <p:txBody>
          <a:bodyPr anchor="t" rtlCol="false" tIns="0" lIns="0" bIns="0" rIns="0">
            <a:spAutoFit/>
          </a:bodyPr>
          <a:lstStyle/>
          <a:p>
            <a:pPr algn="l">
              <a:lnSpc>
                <a:spcPts val="4134"/>
              </a:lnSpc>
            </a:pPr>
            <a:r>
              <a:rPr lang="en-US" sz="3758" spc="-374">
                <a:solidFill>
                  <a:srgbClr val="1E1E1E"/>
                </a:solidFill>
                <a:latin typeface="Lovelo"/>
                <a:ea typeface="Lovelo"/>
                <a:cs typeface="Lovelo"/>
                <a:sym typeface="Lovelo"/>
              </a:rPr>
              <a:t>Singly linked list</a:t>
            </a:r>
          </a:p>
        </p:txBody>
      </p:sp>
      <p:sp>
        <p:nvSpPr>
          <p:cNvPr name="TextBox 9" id="9"/>
          <p:cNvSpPr txBox="true"/>
          <p:nvPr/>
        </p:nvSpPr>
        <p:spPr>
          <a:xfrm rot="0">
            <a:off x="342081" y="6036983"/>
            <a:ext cx="8145361" cy="752932"/>
          </a:xfrm>
          <a:prstGeom prst="rect">
            <a:avLst/>
          </a:prstGeom>
        </p:spPr>
        <p:txBody>
          <a:bodyPr anchor="t" rtlCol="false" tIns="0" lIns="0" bIns="0" rIns="0">
            <a:spAutoFit/>
          </a:bodyPr>
          <a:lstStyle/>
          <a:p>
            <a:pPr algn="just">
              <a:lnSpc>
                <a:spcPts val="2925"/>
              </a:lnSpc>
            </a:pPr>
            <a:r>
              <a:rPr lang="en-US" sz="2378" spc="-47">
                <a:solidFill>
                  <a:srgbClr val="1E1E1E"/>
                </a:solidFill>
                <a:latin typeface="Anonymous Pro"/>
                <a:ea typeface="Anonymous Pro"/>
                <a:cs typeface="Anonymous Pro"/>
                <a:sym typeface="Anonymous Pro"/>
              </a:rPr>
              <a:t>digunakan secara eksklusif untuk manajemen data buku. </a:t>
            </a:r>
          </a:p>
        </p:txBody>
      </p:sp>
      <p:sp>
        <p:nvSpPr>
          <p:cNvPr name="TextBox 10" id="10"/>
          <p:cNvSpPr txBox="true"/>
          <p:nvPr/>
        </p:nvSpPr>
        <p:spPr>
          <a:xfrm rot="0">
            <a:off x="9522771" y="5370147"/>
            <a:ext cx="10108825" cy="1038330"/>
          </a:xfrm>
          <a:prstGeom prst="rect">
            <a:avLst/>
          </a:prstGeom>
        </p:spPr>
        <p:txBody>
          <a:bodyPr anchor="t" rtlCol="false" tIns="0" lIns="0" bIns="0" rIns="0">
            <a:spAutoFit/>
          </a:bodyPr>
          <a:lstStyle/>
          <a:p>
            <a:pPr algn="l">
              <a:lnSpc>
                <a:spcPts val="4134"/>
              </a:lnSpc>
            </a:pPr>
            <a:r>
              <a:rPr lang="en-US" sz="3758" spc="-374">
                <a:solidFill>
                  <a:srgbClr val="1E1E1E"/>
                </a:solidFill>
                <a:latin typeface="Lovelo"/>
                <a:ea typeface="Lovelo"/>
                <a:cs typeface="Lovelo"/>
                <a:sym typeface="Lovelo"/>
              </a:rPr>
              <a:t>Bubble Sort</a:t>
            </a:r>
          </a:p>
          <a:p>
            <a:pPr algn="l">
              <a:lnSpc>
                <a:spcPts val="4134"/>
              </a:lnSpc>
            </a:pPr>
          </a:p>
        </p:txBody>
      </p:sp>
      <p:sp>
        <p:nvSpPr>
          <p:cNvPr name="TextBox 11" id="11"/>
          <p:cNvSpPr txBox="true"/>
          <p:nvPr/>
        </p:nvSpPr>
        <p:spPr>
          <a:xfrm rot="0">
            <a:off x="9522771" y="6036983"/>
            <a:ext cx="8145361" cy="1143467"/>
          </a:xfrm>
          <a:prstGeom prst="rect">
            <a:avLst/>
          </a:prstGeom>
        </p:spPr>
        <p:txBody>
          <a:bodyPr anchor="t" rtlCol="false" tIns="0" lIns="0" bIns="0" rIns="0">
            <a:spAutoFit/>
          </a:bodyPr>
          <a:lstStyle/>
          <a:p>
            <a:pPr algn="just">
              <a:lnSpc>
                <a:spcPts val="2925"/>
              </a:lnSpc>
            </a:pPr>
            <a:r>
              <a:rPr lang="en-US" sz="2378" spc="-47">
                <a:solidFill>
                  <a:srgbClr val="1E1E1E"/>
                </a:solidFill>
                <a:latin typeface="Anonymous Pro"/>
                <a:ea typeface="Anonymous Pro"/>
                <a:cs typeface="Anonymous Pro"/>
                <a:sym typeface="Anonymous Pro"/>
              </a:rPr>
              <a:t>Digunakan untuk mengurutkan data buku berdasarkan judul karena mudah dipahami dan diimplementasikan.</a:t>
            </a:r>
          </a:p>
          <a:p>
            <a:pPr algn="just">
              <a:lnSpc>
                <a:spcPts val="2925"/>
              </a:lnSpc>
            </a:pPr>
          </a:p>
        </p:txBody>
      </p:sp>
      <p:sp>
        <p:nvSpPr>
          <p:cNvPr name="TextBox 12" id="12"/>
          <p:cNvSpPr txBox="true"/>
          <p:nvPr/>
        </p:nvSpPr>
        <p:spPr>
          <a:xfrm rot="0">
            <a:off x="342081" y="7954975"/>
            <a:ext cx="10108825" cy="514455"/>
          </a:xfrm>
          <a:prstGeom prst="rect">
            <a:avLst/>
          </a:prstGeom>
        </p:spPr>
        <p:txBody>
          <a:bodyPr anchor="t" rtlCol="false" tIns="0" lIns="0" bIns="0" rIns="0">
            <a:spAutoFit/>
          </a:bodyPr>
          <a:lstStyle/>
          <a:p>
            <a:pPr algn="l">
              <a:lnSpc>
                <a:spcPts val="4134"/>
              </a:lnSpc>
            </a:pPr>
            <a:r>
              <a:rPr lang="en-US" sz="3758" spc="-374">
                <a:solidFill>
                  <a:srgbClr val="1E1E1E"/>
                </a:solidFill>
                <a:latin typeface="Lovelo"/>
                <a:ea typeface="Lovelo"/>
                <a:cs typeface="Lovelo"/>
                <a:sym typeface="Lovelo"/>
              </a:rPr>
              <a:t>Percabangan (if-else/switch) </a:t>
            </a:r>
          </a:p>
        </p:txBody>
      </p:sp>
      <p:sp>
        <p:nvSpPr>
          <p:cNvPr name="TextBox 13" id="13"/>
          <p:cNvSpPr txBox="true"/>
          <p:nvPr/>
        </p:nvSpPr>
        <p:spPr>
          <a:xfrm rot="0">
            <a:off x="9522771" y="7954975"/>
            <a:ext cx="1164431" cy="1066889"/>
          </a:xfrm>
          <a:prstGeom prst="rect">
            <a:avLst/>
          </a:prstGeom>
        </p:spPr>
        <p:txBody>
          <a:bodyPr anchor="t" rtlCol="false" tIns="0" lIns="0" bIns="0" rIns="0">
            <a:spAutoFit/>
          </a:bodyPr>
          <a:lstStyle/>
          <a:p>
            <a:pPr algn="l">
              <a:lnSpc>
                <a:spcPts val="4133"/>
              </a:lnSpc>
            </a:pPr>
            <a:r>
              <a:rPr lang="en-US" sz="3758" spc="-372">
                <a:solidFill>
                  <a:srgbClr val="1E1E1E"/>
                </a:solidFill>
                <a:latin typeface="Lovelo"/>
                <a:ea typeface="Lovelo"/>
                <a:cs typeface="Lovelo"/>
                <a:sym typeface="Lovelo"/>
              </a:rPr>
              <a:t>Stack</a:t>
            </a:r>
          </a:p>
          <a:p>
            <a:pPr algn="l">
              <a:lnSpc>
                <a:spcPts val="4134"/>
              </a:lnSpc>
            </a:pPr>
          </a:p>
        </p:txBody>
      </p:sp>
      <p:sp>
        <p:nvSpPr>
          <p:cNvPr name="TextBox 14" id="14"/>
          <p:cNvSpPr txBox="true"/>
          <p:nvPr/>
        </p:nvSpPr>
        <p:spPr>
          <a:xfrm rot="0">
            <a:off x="342081" y="8667521"/>
            <a:ext cx="8145361" cy="1143467"/>
          </a:xfrm>
          <a:prstGeom prst="rect">
            <a:avLst/>
          </a:prstGeom>
        </p:spPr>
        <p:txBody>
          <a:bodyPr anchor="t" rtlCol="false" tIns="0" lIns="0" bIns="0" rIns="0">
            <a:spAutoFit/>
          </a:bodyPr>
          <a:lstStyle/>
          <a:p>
            <a:pPr algn="just">
              <a:lnSpc>
                <a:spcPts val="2925"/>
              </a:lnSpc>
            </a:pPr>
            <a:r>
              <a:rPr lang="en-US" sz="2378" spc="-47">
                <a:solidFill>
                  <a:srgbClr val="1E1E1E"/>
                </a:solidFill>
                <a:latin typeface="Anonymous Pro"/>
                <a:ea typeface="Anonymous Pro"/>
                <a:cs typeface="Anonymous Pro"/>
                <a:sym typeface="Anonymous Pro"/>
              </a:rPr>
              <a:t>Digunakan untuk menentukan tindakan berdasarkan kondisi tertentu, seperti memilih menu atau memeriksa data.</a:t>
            </a:r>
          </a:p>
        </p:txBody>
      </p:sp>
      <p:sp>
        <p:nvSpPr>
          <p:cNvPr name="TextBox 15" id="15"/>
          <p:cNvSpPr txBox="true"/>
          <p:nvPr/>
        </p:nvSpPr>
        <p:spPr>
          <a:xfrm rot="0">
            <a:off x="9522771" y="8688514"/>
            <a:ext cx="8145361" cy="1369972"/>
          </a:xfrm>
          <a:prstGeom prst="rect">
            <a:avLst/>
          </a:prstGeom>
        </p:spPr>
        <p:txBody>
          <a:bodyPr anchor="t" rtlCol="false" tIns="0" lIns="0" bIns="0" rIns="0">
            <a:spAutoFit/>
          </a:bodyPr>
          <a:lstStyle/>
          <a:p>
            <a:pPr algn="just">
              <a:lnSpc>
                <a:spcPts val="2116"/>
              </a:lnSpc>
            </a:pPr>
            <a:r>
              <a:rPr lang="en-US" sz="2378" spc="-47">
                <a:solidFill>
                  <a:srgbClr val="1E1E1E"/>
                </a:solidFill>
                <a:latin typeface="Anonymous Pro"/>
                <a:ea typeface="Anonymous Pro"/>
                <a:cs typeface="Anonymous Pro"/>
                <a:sym typeface="Anonymous Pro"/>
              </a:rPr>
              <a:t>Sistem pelaporan diimplementasikan menggunakan Stack (Tumpukan) dengan prinsip LIFO (Last-In-First-Out). Setiap ada transaksi sirkulasi (peminjaman sukses atau pengembalian berhasil), informasinya di-push ke topStack.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TextBox 2" id="2"/>
          <p:cNvSpPr txBox="true"/>
          <p:nvPr/>
        </p:nvSpPr>
        <p:spPr>
          <a:xfrm rot="0">
            <a:off x="4221185" y="4807553"/>
            <a:ext cx="9987439" cy="1335329"/>
          </a:xfrm>
          <a:prstGeom prst="rect">
            <a:avLst/>
          </a:prstGeom>
        </p:spPr>
        <p:txBody>
          <a:bodyPr anchor="t" rtlCol="false" tIns="0" lIns="0" bIns="0" rIns="0">
            <a:spAutoFit/>
          </a:bodyPr>
          <a:lstStyle/>
          <a:p>
            <a:pPr algn="ctr">
              <a:lnSpc>
                <a:spcPts val="13912"/>
              </a:lnSpc>
            </a:pPr>
            <a:r>
              <a:rPr lang="en-US" b="true" sz="17390" spc="-1739">
                <a:solidFill>
                  <a:srgbClr val="1E1E1E"/>
                </a:solidFill>
                <a:latin typeface="Montserrat Bold"/>
                <a:ea typeface="Montserrat Bold"/>
                <a:cs typeface="Montserrat Bold"/>
                <a:sym typeface="Montserrat Bold"/>
              </a:rPr>
              <a:t>thank you</a:t>
            </a:r>
          </a:p>
        </p:txBody>
      </p:sp>
      <p:sp>
        <p:nvSpPr>
          <p:cNvPr name="Freeform 3" id="3"/>
          <p:cNvSpPr/>
          <p:nvPr/>
        </p:nvSpPr>
        <p:spPr>
          <a:xfrm flipH="false" flipV="false" rot="0">
            <a:off x="16942222" y="1074087"/>
            <a:ext cx="317078" cy="149895"/>
          </a:xfrm>
          <a:custGeom>
            <a:avLst/>
            <a:gdLst/>
            <a:ahLst/>
            <a:cxnLst/>
            <a:rect r="r" b="b" t="t" l="l"/>
            <a:pathLst>
              <a:path h="149895" w="317078">
                <a:moveTo>
                  <a:pt x="0" y="0"/>
                </a:moveTo>
                <a:lnTo>
                  <a:pt x="317078" y="0"/>
                </a:lnTo>
                <a:lnTo>
                  <a:pt x="317078" y="149895"/>
                </a:lnTo>
                <a:lnTo>
                  <a:pt x="0" y="149895"/>
                </a:lnTo>
                <a:lnTo>
                  <a:pt x="0" y="0"/>
                </a:lnTo>
                <a:close/>
              </a:path>
            </a:pathLst>
          </a:custGeom>
          <a:blipFill>
            <a:blip r:embed="rId2">
              <a:extLst>
                <a:ext uri="{96DAC541-7B7A-43D3-8B79-37D633B846F1}">
                  <asvg:svgBlip xmlns:asvg="http://schemas.microsoft.com/office/drawing/2016/SVG/main" r:embed="rId3"/>
                </a:ext>
              </a:extLst>
            </a:blip>
            <a:stretch>
              <a:fillRect l="-228" t="0" r="-225"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DAHOqO6OAc0</dc:identifier>
  <dcterms:modified xsi:type="dcterms:W3CDTF">2011-08-01T06:04:30Z</dcterms:modified>
  <cp:revision>1</cp:revision>
  <dc:title>ppt kelompok 4_UAS alstruk.pptx</dc:title>
</cp:coreProperties>
</file>